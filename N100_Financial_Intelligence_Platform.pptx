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image" Target="../media/image-8-1.png"/><Relationship Id="rId9" Type="http://schemas.openxmlformats.org/officeDocument/2006/relationships/image" Target="../media/image-8-1.png"/><Relationship Id="rId10" Type="http://schemas.openxmlformats.org/officeDocument/2006/relationships/image" Target="../media/image-8-1.png"/><Relationship Id="rId11" Type="http://schemas.openxmlformats.org/officeDocument/2006/relationships/image" Target="../media/image-8-1.png"/><Relationship Id="rId12" Type="http://schemas.openxmlformats.org/officeDocument/2006/relationships/image" Target="../media/image-8-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1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2.png"/><Relationship Id="rId7" Type="http://schemas.openxmlformats.org/officeDocument/2006/relationships/image" Target="../media/image-11-5.png"/><Relationship Id="rId8" Type="http://schemas.openxmlformats.org/officeDocument/2006/relationships/image" Target="../media/image-11-2.png"/><Relationship Id="rId9" Type="http://schemas.openxmlformats.org/officeDocument/2006/relationships/image" Target="../media/image-11-9.png"/><Relationship Id="rId10" Type="http://schemas.openxmlformats.org/officeDocument/2006/relationships/image" Target="../media/image-11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D4AF3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N100 FINANCIAL INTELLIGENCE PLATFORM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703320"/>
            <a:ext cx="137160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404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ETL Pipeline for Nifty 100 Financial Datasets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Internship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Pulla Reddy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602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02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6289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289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4975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975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3662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662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2062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16002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17602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7602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16002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46888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26289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6289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24688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33375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92240" y="34975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4975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33375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9360" y="420624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92240" y="43662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3662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42062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icon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3774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02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6576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709160" y="6858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09160" y="123444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ETL project for processing Nifty 100 financial datasets into a centralized SQLite database.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709160" y="33375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3154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fragmented Excel-based financial data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09160" y="39319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37490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repeatable Extract–Transform–Load pipeline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09160" y="45262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43434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clean, query-ready data for analysis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463040"/>
            <a:ext cx="10149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exists across multiple Excel files and requires cleaning, validation, and centralized storage.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749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s/filetex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39136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45262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98348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separate Excel files with inconsistent structure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342900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3749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391363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5262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Gaps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3440" y="498348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nulls, and invalid values throughout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342900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3749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391363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45262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Store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66760" y="498348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database for reliable querying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sequential goals guiding the pipeline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93392" cy="3108960"/>
          </a:xfrm>
          <a:prstGeom prst="roundRect">
            <a:avLst>
              <a:gd name="adj" fmla="val 3670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46888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icons/upload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6151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375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384048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633472" y="24688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62072" y="2103120"/>
            <a:ext cx="1993392" cy="3108960"/>
          </a:xfrm>
          <a:prstGeom prst="roundRect">
            <a:avLst>
              <a:gd name="adj" fmla="val 367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38728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refres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261518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62072" y="33375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999232" y="384048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normalize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855464" y="24688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084064" y="2103120"/>
            <a:ext cx="1993392" cy="3108960"/>
          </a:xfrm>
          <a:prstGeom prst="roundRect">
            <a:avLst>
              <a:gd name="adj" fmla="val 3670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60720" y="246888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8" name="Image 2" descr="icons/shield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61518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84064" y="33375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5221224" y="384048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7077456" y="24688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306056" y="2103120"/>
            <a:ext cx="1993392" cy="3108960"/>
          </a:xfrm>
          <a:prstGeom prst="roundRect">
            <a:avLst>
              <a:gd name="adj" fmla="val 367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82712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icon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61518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06056" y="33375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443216" y="384048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SQLite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299448" y="24688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528048" y="2103120"/>
            <a:ext cx="1993392" cy="3108960"/>
          </a:xfrm>
          <a:prstGeom prst="roundRect">
            <a:avLst>
              <a:gd name="adj" fmla="val 3670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04704" y="246888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0" name="Image 4" descr="icons/check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08" y="2615184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28048" y="33375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9665208" y="384048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results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powering extraction, transformation, and storage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2C3A7A"/>
            </a:solidFill>
            <a:prstDash val="solid"/>
          </a:ln>
        </p:spPr>
      </p:sp>
      <p:pic>
        <p:nvPicPr>
          <p:cNvPr id="5" name="Image 0" descr="icons/code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154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scripting language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9202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2C3A7A"/>
            </a:solidFill>
            <a:prstDash val="solid"/>
          </a:ln>
        </p:spPr>
      </p:sp>
      <p:pic>
        <p:nvPicPr>
          <p:cNvPr id="9" name="Image 1" descr="icons/code_D4AF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1945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788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17720" y="3154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cleaning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46720" y="19202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2C3A7A"/>
            </a:solidFill>
            <a:prstDash val="solid"/>
          </a:ln>
        </p:spPr>
      </p:sp>
      <p:pic>
        <p:nvPicPr>
          <p:cNvPr id="13" name="Image 2" descr="icons/code_D4AF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1945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788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321040" y="3154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relational database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39319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2C3A7A"/>
            </a:solidFill>
            <a:prstDash val="solid"/>
          </a:ln>
        </p:spPr>
      </p:sp>
      <p:pic>
        <p:nvPicPr>
          <p:cNvPr id="17" name="Image 3" descr="icons/code_D4AF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062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48006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14400" y="5166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 parsing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43400" y="39319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2C3A7A"/>
            </a:solidFill>
            <a:prstDash val="solid"/>
          </a:ln>
        </p:spPr>
      </p:sp>
      <p:pic>
        <p:nvPicPr>
          <p:cNvPr id="21" name="Image 4" descr="icons/code_D4AF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20624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17720" y="48006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617720" y="5166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framework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046720" y="39319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2C3A7A"/>
            </a:solidFill>
            <a:prstDash val="solid"/>
          </a:ln>
        </p:spPr>
      </p:sp>
      <p:pic>
        <p:nvPicPr>
          <p:cNvPr id="25" name="Image 5" descr="icons/code_D4AF3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20624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21040" y="48006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321040" y="5166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hosting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Root-level organization of the repository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root/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data/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db/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output/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src/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617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tests/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5120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README.md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 </a:t>
            </a:r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Excel datasets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257860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  </a:t>
            </a:r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SQLite database file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32369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  </a:t>
            </a:r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validation exports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38953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 </a:t>
            </a:r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source code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0" y="45537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 </a:t>
            </a:r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 suite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0" y="5212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 </a:t>
            </a:r>
            <a:pPr indent="0" marL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structured datasets covering the Nifty 100 universe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6" name="Image 0" descr="icons/bar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756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47288" y="1691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188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10" name="Image 1" descr="icons/bar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20756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24528" y="16916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54496" y="1691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19088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14" name="Image 2" descr="icons/bar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0756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31736" y="16916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061704" y="1691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226296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18" name="Image 3" descr="icons/bar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20756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38944" y="16916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294436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04672" y="3218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22" name="Image 4" descr="icons/barcha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2841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2944368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447288" y="294436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611880" y="3218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26" name="Image 5" descr="icons/barchar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8" y="3328416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224528" y="2944368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254496" y="294436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419088" y="3218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30" name="Image 6" descr="icons/barchart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3328416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31736" y="2944368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9061704" y="294436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226296" y="3218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34" name="Image 7" descr="icons/barchart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3328416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838944" y="2944368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Ratios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640080" y="4197096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804672" y="447141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38" name="Image 8" descr="icons/barchar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581144"/>
            <a:ext cx="237744" cy="23774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417320" y="4197096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3447288" y="4197096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611880" y="447141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42" name="Image 9" descr="icons/barchart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1608" y="4581144"/>
            <a:ext cx="237744" cy="23774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224528" y="4197096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Groups</a:t>
            </a:r>
            <a:endParaRPr lang="en-US" sz="1300" dirty="0"/>
          </a:p>
        </p:txBody>
      </p:sp>
      <p:sp>
        <p:nvSpPr>
          <p:cNvPr id="44" name="Shape 32"/>
          <p:cNvSpPr/>
          <p:nvPr/>
        </p:nvSpPr>
        <p:spPr>
          <a:xfrm>
            <a:off x="6254496" y="4197096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419088" y="447141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46" name="Image 10" descr="icons/barchart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8816" y="4581144"/>
            <a:ext cx="237744" cy="237744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7031736" y="4197096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</a:t>
            </a:r>
            <a:endParaRPr lang="en-US" sz="1300" dirty="0"/>
          </a:p>
        </p:txBody>
      </p:sp>
      <p:sp>
        <p:nvSpPr>
          <p:cNvPr id="48" name="Shape 35"/>
          <p:cNvSpPr/>
          <p:nvPr/>
        </p:nvSpPr>
        <p:spPr>
          <a:xfrm>
            <a:off x="9061704" y="4197096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9226296" y="447141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50" name="Image 11" descr="icons/barchart_FFFF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6024" y="4581144"/>
            <a:ext cx="237744" cy="237744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9838944" y="4197096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seven-stage processing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1436914" cy="1463040"/>
          </a:xfrm>
          <a:prstGeom prst="roundRect">
            <a:avLst>
              <a:gd name="adj" fmla="val 44545"/>
            </a:avLst>
          </a:prstGeom>
          <a:solidFill>
            <a:srgbClr val="1E2761"/>
          </a:solidFill>
          <a:ln w="12700">
            <a:solidFill>
              <a:srgbClr val="3A47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82112"/>
            <a:ext cx="14369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13454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058706" y="34747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14154" y="3017520"/>
            <a:ext cx="1436914" cy="1463040"/>
          </a:xfrm>
          <a:prstGeom prst="roundRect">
            <a:avLst>
              <a:gd name="adj" fmla="val 44545"/>
            </a:avLst>
          </a:prstGeom>
          <a:solidFill>
            <a:srgbClr val="1E2761"/>
          </a:solidFill>
          <a:ln w="12700">
            <a:solidFill>
              <a:srgbClr val="3A47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4154" y="3182112"/>
            <a:ext cx="14369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59874" y="3566160"/>
            <a:ext cx="13454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32781" y="34747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88229" y="3017520"/>
            <a:ext cx="1436914" cy="1463040"/>
          </a:xfrm>
          <a:prstGeom prst="roundRect">
            <a:avLst>
              <a:gd name="adj" fmla="val 44545"/>
            </a:avLst>
          </a:prstGeom>
          <a:solidFill>
            <a:srgbClr val="1E2761"/>
          </a:solidFill>
          <a:ln w="12700">
            <a:solidFill>
              <a:srgbClr val="3A47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8229" y="3182112"/>
            <a:ext cx="14369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33949" y="3566160"/>
            <a:ext cx="13454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06855" y="34747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62303" y="3017520"/>
            <a:ext cx="1436914" cy="1463040"/>
          </a:xfrm>
          <a:prstGeom prst="roundRect">
            <a:avLst>
              <a:gd name="adj" fmla="val 44545"/>
            </a:avLst>
          </a:prstGeom>
          <a:solidFill>
            <a:srgbClr val="1E2761"/>
          </a:solidFill>
          <a:ln w="12700">
            <a:solidFill>
              <a:srgbClr val="3A47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62303" y="3182112"/>
            <a:ext cx="14369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08023" y="3566160"/>
            <a:ext cx="13454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80929" y="34747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36377" y="3017520"/>
            <a:ext cx="1436914" cy="1463040"/>
          </a:xfrm>
          <a:prstGeom prst="roundRect">
            <a:avLst>
              <a:gd name="adj" fmla="val 44545"/>
            </a:avLst>
          </a:prstGeom>
          <a:solidFill>
            <a:srgbClr val="1E2761"/>
          </a:solidFill>
          <a:ln w="12700">
            <a:solidFill>
              <a:srgbClr val="3A47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6377" y="3182112"/>
            <a:ext cx="14369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82097" y="3566160"/>
            <a:ext cx="13454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Tables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55003" y="34747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10451" y="3017520"/>
            <a:ext cx="1436914" cy="1463040"/>
          </a:xfrm>
          <a:prstGeom prst="roundRect">
            <a:avLst>
              <a:gd name="adj" fmla="val 44545"/>
            </a:avLst>
          </a:prstGeom>
          <a:solidFill>
            <a:srgbClr val="1E2761"/>
          </a:solidFill>
          <a:ln w="12700">
            <a:solidFill>
              <a:srgbClr val="3A47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10451" y="3182112"/>
            <a:ext cx="14369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56171" y="3566160"/>
            <a:ext cx="13454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929078" y="34747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84526" y="3017520"/>
            <a:ext cx="1436914" cy="1463040"/>
          </a:xfrm>
          <a:prstGeom prst="roundRect">
            <a:avLst>
              <a:gd name="adj" fmla="val 44545"/>
            </a:avLst>
          </a:prstGeom>
          <a:solidFill>
            <a:srgbClr val="D4AF37"/>
          </a:solidFill>
          <a:ln w="12700">
            <a:solidFill>
              <a:srgbClr val="3A47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84526" y="3182112"/>
            <a:ext cx="14369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130246" y="3566160"/>
            <a:ext cx="13454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2468880"/>
            <a:ext cx="2194560" cy="2194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s/refres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3200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0916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709160" y="14630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column names to lowercase and replaced spaces with underscores for consistency.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709160" y="2834640"/>
            <a:ext cx="3108960" cy="2468880"/>
          </a:xfrm>
          <a:prstGeom prst="roundRect">
            <a:avLst>
              <a:gd name="adj" fmla="val 2963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92040" y="347472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7A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"Company Name"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7A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"Market Cap"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7A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"P/E Ratio"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75320" y="2834640"/>
            <a:ext cx="3108960" cy="2468880"/>
          </a:xfrm>
          <a:prstGeom prst="roundRect">
            <a:avLst>
              <a:gd name="adj" fmla="val 2963"/>
            </a:avLst>
          </a:prstGeom>
          <a:solidFill>
            <a:srgbClr val="E9F5EE"/>
          </a:solidFill>
          <a:ln w="12700">
            <a:solidFill>
              <a:srgbClr val="A9D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75320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58200" y="347472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3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company_name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3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market_cap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35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pe_ratio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performed before loading into the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24597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350" dirty="0"/>
          </a:p>
        </p:txBody>
      </p:sp>
      <p:pic>
        <p:nvPicPr>
          <p:cNvPr id="8" name="Image 1" descr="icons/check_D4AF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438912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34640" y="196596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icons/sear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245973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26080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IDs</a:t>
            </a:r>
            <a:endParaRPr lang="en-US" sz="1350" dirty="0"/>
          </a:p>
        </p:txBody>
      </p:sp>
      <p:pic>
        <p:nvPicPr>
          <p:cNvPr id="13" name="Image 3" descr="icons/check_D4AF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38912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029200" y="196596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566928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4" descr="icons/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2459736"/>
            <a:ext cx="384048" cy="3840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20640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1350" dirty="0"/>
          </a:p>
        </p:txBody>
      </p:sp>
      <p:pic>
        <p:nvPicPr>
          <p:cNvPr id="18" name="Image 5" descr="icons/check_D4AF3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438912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223760" y="196596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786384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6" descr="icons/shield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7576" y="2459736"/>
            <a:ext cx="384048" cy="38404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315200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values</a:t>
            </a:r>
            <a:endParaRPr lang="en-US" sz="1350" dirty="0"/>
          </a:p>
        </p:txBody>
      </p:sp>
      <p:pic>
        <p:nvPicPr>
          <p:cNvPr id="23" name="Image 7" descr="icons/check_D4AF3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4389120"/>
            <a:ext cx="274320" cy="27432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418320" y="196596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1005840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8" descr="icons/barchar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2136" y="2459736"/>
            <a:ext cx="384048" cy="38404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509760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counts</a:t>
            </a:r>
            <a:endParaRPr lang="en-US" sz="1350" dirty="0"/>
          </a:p>
        </p:txBody>
      </p:sp>
      <p:pic>
        <p:nvPicPr>
          <p:cNvPr id="28" name="Image 9" descr="icons/check_D4AF37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438912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database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5176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651760" y="13716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nifty100.db with 12 tables and loaded all validated datasets.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22960" y="28803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2C3A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1546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File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0" y="28803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2C3A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31546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4572000" y="4343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Loaded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321040" y="28803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2C3A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1040" y="31546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8321040" y="4343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Validated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224028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514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173736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all tables and confirmed row counts matched the source datasets.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41605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9776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cross-checked against original Excel exports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47091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45262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integrity confirmed across all 12 tables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525780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50749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Discrepancies logged for manual review, none found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executed successfully.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6160" y="201168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0" y="2423160"/>
            <a:ext cx="1371600" cy="137160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6" name="Image 0" descr="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788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66160" y="4023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56616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github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5176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651760" y="13716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version-controlled using Git and pushed to GitHub successfully.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651760" y="30175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2C3A7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834640" y="324612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3337560" y="301752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 tracks each pipeline milestone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2651760" y="39776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2C3A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34640" y="420624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397764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documents setup and usage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2651760" y="49377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2C3A7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4640" y="516636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493776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ready for review and submission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upload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25237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4290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Loaded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97280" y="402336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processed and loaded successfully into SQLite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20840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filetext_D4AF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25237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290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Reports Generated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720840" y="402336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validation reports produced for full traceability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developed through hands-on delivery of the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2286000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6" name="Image 0" descr="icons/refresh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24505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Development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pipeline design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196596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2286000"/>
            <a:ext cx="640080" cy="640080"/>
          </a:xfrm>
          <a:prstGeom prst="ellipse">
            <a:avLst/>
          </a:prstGeom>
          <a:solidFill>
            <a:srgbClr val="F7F8FC"/>
          </a:solidFill>
          <a:ln/>
        </p:spPr>
      </p:sp>
      <p:pic>
        <p:nvPicPr>
          <p:cNvPr id="11" name="Image 1" descr="icons/database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24505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608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Integration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26080" y="3794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&amp; loading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0" y="196596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15000" y="2286000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6" name="Image 2" descr="icons/check_D4AF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4505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120640" y="3794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writing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23760" y="196596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09560" y="2286000"/>
            <a:ext cx="640080" cy="640080"/>
          </a:xfrm>
          <a:prstGeom prst="ellipse">
            <a:avLst/>
          </a:prstGeom>
          <a:solidFill>
            <a:srgbClr val="F7F8FC"/>
          </a:solidFill>
          <a:ln/>
        </p:spPr>
      </p:sp>
      <p:pic>
        <p:nvPicPr>
          <p:cNvPr id="21" name="Image 3" descr="icons/github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245059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Version Control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15200" y="3794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workflows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18320" y="196596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04120" y="2286000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6" name="Image 4" descr="icons/shield_D4AF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2" y="245059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0976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Validation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509760" y="3794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QA practices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D4AF37">
              <a:alpha val="15000"/>
            </a:srgbClr>
          </a:solidFill>
          <a:ln/>
        </p:spPr>
      </p:sp>
      <p:pic>
        <p:nvPicPr>
          <p:cNvPr id="4" name="Image 0" descr="icons/award_D4AF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9144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737360" y="329184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delivers a reusable ETL pipeline for financial datasets and is ready for submission.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394960" y="4663440"/>
            <a:ext cx="13716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Internship  •  Prepared by Pulla Reddy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2026-07-12T08:11:48Z</dcterms:created>
  <dcterms:modified xsi:type="dcterms:W3CDTF">2026-07-12T08:11:48Z</dcterms:modified>
</cp:coreProperties>
</file>