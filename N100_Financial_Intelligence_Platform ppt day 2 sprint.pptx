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3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5374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2103120"/>
            <a:ext cx="5943600" cy="594360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-1005840"/>
            <a:ext cx="3749040" cy="3749040"/>
          </a:xfrm>
          <a:prstGeom prst="ellipse">
            <a:avLst/>
          </a:prstGeom>
          <a:solidFill>
            <a:srgbClr val="27317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8778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N100 Financial</a:t>
            </a:r>
            <a:endParaRPr lang="en-US" sz="46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Platform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ETL, Data Validation and Financial Analytics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for the Nifty 100 Universe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074920"/>
            <a:ext cx="100584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12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Pulla Reddy 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Onteddu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5595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dirty="0">
                <a:solidFill>
                  <a:srgbClr val="9A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&amp; Financial Analytics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7724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EB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0" y="18562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828800" y="2185416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Overview, motivation and objectives behind the platform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11064240" cy="77724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70048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EB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828800" y="27432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Engineering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828800" y="3072384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stack, system design, ETL pipeline and folder structure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11064240" cy="77724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557016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EB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828800" y="36301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Storage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828800" y="395935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framework and relational database design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443984"/>
            <a:ext cx="11064240" cy="77724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443984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EB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828800" y="45171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Analytics Theory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828800" y="48463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analysis, cash-flow KPIs and interpretation logic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330952"/>
            <a:ext cx="11064240" cy="77724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330952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EB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828800" y="54041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 &amp; Delivery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828800" y="573328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strategy, version control, challenges and results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N100 FINANCIAL INTELLIGENCE PLATFORM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309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45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N100 Financial Intelligence Platform is an end-to-end data engineering and analytics system built to convert raw, unstructured financial spreadsheets for the Nifty 100 universe into a validated, queryable and analysis-ready intelligence layer.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6309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45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combines classical ETL (Extract–Transform–Load) engineering discipline with corporate-finance theory — profitability, liquidity, leverage, efficiency and cash-flow analysis — to produce KPIs that mirror how equity and credit analysts actually evaluate a company.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15200" y="1783080"/>
            <a:ext cx="4297680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0" y="19202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0" y="26791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Ingested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0" y="3410712"/>
            <a:ext cx="4297680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0" y="354787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1,184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315200" y="43068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Records Verified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0" y="5038344"/>
            <a:ext cx="4297680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5175504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315200" y="593445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N100 FINANCIAL INTELLIGENCE PLATFORM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Motivation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financial data rarely arrives analysis-ready. Multi-sheet workbooks, inconsistent column naming, missing values and unverified figures make manual analysis slow and error-prone — and financial theory only produces trustworthy insight when the underlying data pipeline is sound.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611880" cy="324612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6" name="Shape 4"/>
          <p:cNvSpPr/>
          <p:nvPr/>
        </p:nvSpPr>
        <p:spPr>
          <a:xfrm>
            <a:off x="941832" y="299923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41832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2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72" dirty="0"/>
          </a:p>
        </p:txBody>
      </p:sp>
      <p:sp>
        <p:nvSpPr>
          <p:cNvPr id="8" name="Text 6"/>
          <p:cNvSpPr/>
          <p:nvPr/>
        </p:nvSpPr>
        <p:spPr>
          <a:xfrm>
            <a:off x="868680" y="3703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Sources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420624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disparate Excel datasets with no common schema or shared keys.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2788920"/>
            <a:ext cx="3611880" cy="324612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4782312" y="299923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782312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2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72" dirty="0"/>
          </a:p>
        </p:txBody>
      </p:sp>
      <p:sp>
        <p:nvSpPr>
          <p:cNvPr id="13" name="Text 11"/>
          <p:cNvSpPr/>
          <p:nvPr/>
        </p:nvSpPr>
        <p:spPr>
          <a:xfrm>
            <a:off x="4709160" y="3703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Quality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709160" y="420624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Nulls, duplicates and negative-value anomalies undermine any ratio computed on top.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0" y="2788920"/>
            <a:ext cx="3611880" cy="324612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16" name="Shape 14"/>
          <p:cNvSpPr/>
          <p:nvPr/>
        </p:nvSpPr>
        <p:spPr>
          <a:xfrm>
            <a:off x="8622792" y="299923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622792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2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72" dirty="0"/>
          </a:p>
        </p:txBody>
      </p:sp>
      <p:sp>
        <p:nvSpPr>
          <p:cNvPr id="18" name="Text 16"/>
          <p:cNvSpPr/>
          <p:nvPr/>
        </p:nvSpPr>
        <p:spPr>
          <a:xfrm>
            <a:off x="8549640" y="3703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Analytical Layer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549640" y="420624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store numbers, not profitability, liquidity or cash-flow signal.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N100 FINANCIAL INTELLIGENCE PLATFORM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011680" cy="4160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261872" y="2130552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21305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2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72" dirty="0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3232" y="3310128"/>
            <a:ext cx="16824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heterogeneous Excel datasets into a unified processing pipeline.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88336" y="1874520"/>
            <a:ext cx="2011680" cy="416052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3401568" y="213055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401568" y="21305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72" dirty="0"/>
          </a:p>
        </p:txBody>
      </p:sp>
      <p:sp>
        <p:nvSpPr>
          <p:cNvPr id="12" name="Text 10"/>
          <p:cNvSpPr/>
          <p:nvPr/>
        </p:nvSpPr>
        <p:spPr>
          <a:xfrm>
            <a:off x="2825496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852928" y="3310128"/>
            <a:ext cx="16824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data-quality rules before any record enters the analytics layer.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28032" y="1874520"/>
            <a:ext cx="2011680" cy="4160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5541264" y="2130552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5541264" y="21305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2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72" dirty="0"/>
          </a:p>
        </p:txBody>
      </p:sp>
      <p:sp>
        <p:nvSpPr>
          <p:cNvPr id="17" name="Text 15"/>
          <p:cNvSpPr/>
          <p:nvPr/>
        </p:nvSpPr>
        <p:spPr>
          <a:xfrm>
            <a:off x="4965192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992624" y="3310128"/>
            <a:ext cx="16824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cleaned records in a normalized SQLite relational schema.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67728" y="1874520"/>
            <a:ext cx="2011680" cy="416052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680960" y="213055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21305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72" dirty="0"/>
          </a:p>
        </p:txBody>
      </p:sp>
      <p:sp>
        <p:nvSpPr>
          <p:cNvPr id="22" name="Text 20"/>
          <p:cNvSpPr/>
          <p:nvPr/>
        </p:nvSpPr>
        <p:spPr>
          <a:xfrm>
            <a:off x="710488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32320" y="3310128"/>
            <a:ext cx="16824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profitability, liquidity, leverage, efficiency and cash-flow KPIs.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07424" y="1874520"/>
            <a:ext cx="2011680" cy="4160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9820656" y="2130552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9820656" y="21305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2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72" dirty="0"/>
          </a:p>
        </p:txBody>
      </p:sp>
      <p:sp>
        <p:nvSpPr>
          <p:cNvPr id="27" name="Text 25"/>
          <p:cNvSpPr/>
          <p:nvPr/>
        </p:nvSpPr>
        <p:spPr>
          <a:xfrm>
            <a:off x="9244584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272016" y="3310128"/>
            <a:ext cx="16824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reproducible CSV outputs and diagnostic logs for review.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N100 FINANCIAL INTELLIGENCE PLATFORM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78608" cy="192024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38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ETL, validation and analytics logic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73552" y="1874520"/>
            <a:ext cx="2578608" cy="192024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3502152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502152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3456432" y="278892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456432" y="315468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engine for cleaning, transforming and reshaping data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98464" y="1874520"/>
            <a:ext cx="2578608" cy="192024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227064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227064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6181344" y="278892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181344" y="315468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relational store for the validated data warehouse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23376" y="1874520"/>
            <a:ext cx="2578608" cy="192024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8951976" y="2103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951976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</a:t>
            </a:r>
            <a:endParaRPr lang="en-US" sz="1380" dirty="0"/>
          </a:p>
        </p:txBody>
      </p:sp>
      <p:sp>
        <p:nvSpPr>
          <p:cNvPr id="22" name="Text 20"/>
          <p:cNvSpPr/>
          <p:nvPr/>
        </p:nvSpPr>
        <p:spPr>
          <a:xfrm>
            <a:off x="8906256" y="278892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906256" y="315468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unit and integration test framework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160520"/>
            <a:ext cx="3456432" cy="192024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4389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</a:t>
            </a:r>
            <a:endParaRPr lang="en-US" sz="1380" dirty="0"/>
          </a:p>
        </p:txBody>
      </p:sp>
      <p:sp>
        <p:nvSpPr>
          <p:cNvPr id="27" name="Text 25"/>
          <p:cNvSpPr/>
          <p:nvPr/>
        </p:nvSpPr>
        <p:spPr>
          <a:xfrm>
            <a:off x="731520" y="507492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31520" y="5440680"/>
            <a:ext cx="3145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version control across the development lifecycle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151376" y="4160520"/>
            <a:ext cx="3456432" cy="192024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30" name="Shape 28"/>
          <p:cNvSpPr/>
          <p:nvPr/>
        </p:nvSpPr>
        <p:spPr>
          <a:xfrm>
            <a:off x="4379976" y="4389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4379976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</a:t>
            </a:r>
            <a:endParaRPr lang="en-US" sz="1380" dirty="0"/>
          </a:p>
        </p:txBody>
      </p:sp>
      <p:sp>
        <p:nvSpPr>
          <p:cNvPr id="32" name="Text 30"/>
          <p:cNvSpPr/>
          <p:nvPr/>
        </p:nvSpPr>
        <p:spPr>
          <a:xfrm>
            <a:off x="4334256" y="507492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334256" y="5440680"/>
            <a:ext cx="3145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repository hosting, history and collaboration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754112" y="4160520"/>
            <a:ext cx="3456432" cy="192024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35" name="Shape 33"/>
          <p:cNvSpPr/>
          <p:nvPr/>
        </p:nvSpPr>
        <p:spPr>
          <a:xfrm>
            <a:off x="7982712" y="4389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7982712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80" dirty="0"/>
          </a:p>
        </p:txBody>
      </p:sp>
      <p:sp>
        <p:nvSpPr>
          <p:cNvPr id="37" name="Text 35"/>
          <p:cNvSpPr/>
          <p:nvPr/>
        </p:nvSpPr>
        <p:spPr>
          <a:xfrm>
            <a:off x="7936992" y="507492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936992" y="5440680"/>
            <a:ext cx="3145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IDE for development and debugging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N100 FINANCIAL INTELLIGENCE PLATFORM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interlinked datasets describe each Nifty 100 constituent across identity, fundamentals and market behaviour — the raw material for every KPI computed downstream.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6400800" cy="68580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017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Identity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520440" y="30175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Companies, sectors &amp; classification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822192"/>
            <a:ext cx="6400800" cy="68580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82219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Statements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520440" y="382219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sheet, income statement, cash-flow statement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626864"/>
            <a:ext cx="6400800" cy="68580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626864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20440" y="4626864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capitalization &amp; historical stock prices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5431536"/>
            <a:ext cx="6400800" cy="68580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431536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Ratios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20440" y="543153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ratios &amp; profitability metrics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0" y="1737360"/>
            <a:ext cx="4297680" cy="4297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228600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6400" dirty="0"/>
          </a:p>
        </p:txBody>
      </p:sp>
      <p:sp>
        <p:nvSpPr>
          <p:cNvPr id="19" name="Text 17"/>
          <p:cNvSpPr/>
          <p:nvPr/>
        </p:nvSpPr>
        <p:spPr>
          <a:xfrm>
            <a:off x="7315200" y="3429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Datasets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80960" y="397764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through a shared company key into one relational schema, enabling cross-statement financial analysis.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N100 FINANCIAL INTELLIGENCE PLATFORM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follows the classical ETL paradigm — Extract, Transform, Load — extended with an explicit validation gate and an analytics stage before results are published.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0352" y="2880360"/>
            <a:ext cx="141732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288036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Excel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947672" y="2880360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48840" y="2880360"/>
            <a:ext cx="1417320" cy="105156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9" name="Text 7"/>
          <p:cNvSpPr/>
          <p:nvPr/>
        </p:nvSpPr>
        <p:spPr>
          <a:xfrm>
            <a:off x="2148840" y="288036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566160" y="2880360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67328" y="2880360"/>
            <a:ext cx="141732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767328" y="288036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184648" y="2880360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85816" y="2880360"/>
            <a:ext cx="1417320" cy="105156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5385816" y="288036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03136" y="2880360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004304" y="2880360"/>
            <a:ext cx="141732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004304" y="288036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421624" y="2880360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622792" y="2880360"/>
            <a:ext cx="1417320" cy="105156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8622792" y="288036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Outputs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040112" y="2880360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241280" y="2880360"/>
            <a:ext cx="141732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10241280" y="288036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4434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47548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raw multi-sheet Excel files exactly as sourced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43400" y="4434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43400" y="47548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normalize and reshape into a consistent schema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138160" y="4434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138160" y="47548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validated records into the SQLite warehouse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N100 FINANCIAL INTELLIGENCE PLATFORM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Design: Folder Structure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codebase applies separation of concerns — each layer of the ETL/analytics pipeline owns a dedicated directory, keeping ingestion, transformation, storage and testing independently testable.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633472" cy="160020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6334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309067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source code and shared utilities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64992" y="2468880"/>
            <a:ext cx="2633472" cy="160020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26334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etl/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566160" y="309067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and transformation logic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81344" y="2468880"/>
            <a:ext cx="2633472" cy="160020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6382512" y="26334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analytics/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82512" y="309067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and KPI computation modules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997696" y="2468880"/>
            <a:ext cx="2633472" cy="160020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9198864" y="26334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db/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198864" y="309067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engine and schema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2633472" cy="160020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4165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49808" y="487375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 Excel datasets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64992" y="4251960"/>
            <a:ext cx="2633472" cy="160020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44165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output/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3566160" y="487375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CSV outputs and logs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81344" y="4251960"/>
            <a:ext cx="2633472" cy="160020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24" name="Text 22"/>
          <p:cNvSpPr/>
          <p:nvPr/>
        </p:nvSpPr>
        <p:spPr>
          <a:xfrm>
            <a:off x="6382512" y="44165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382512" y="487375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unit and integration suite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N100 FINANCIAL INTELLIGENCE PLATFORM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Pipeline Implementation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7724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777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417320" y="1783080"/>
            <a:ext cx="10195560" cy="96012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7" name="Text 5"/>
          <p:cNvSpPr/>
          <p:nvPr/>
        </p:nvSpPr>
        <p:spPr>
          <a:xfrm>
            <a:off x="169164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Excel Files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91640" y="2240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all 12 workbooks via Pandas, preserving sheet-level structure.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77724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80360"/>
            <a:ext cx="777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417320" y="2880360"/>
            <a:ext cx="10195560" cy="96012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1691640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Column Names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91640" y="3337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casing, whitespace and naming conventions across sources.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77724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77640"/>
            <a:ext cx="777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417320" y="3977640"/>
            <a:ext cx="10195560" cy="96012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169164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Values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91640" y="4434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units, data types and missing-value representation.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77724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074920"/>
            <a:ext cx="777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417320" y="5074920"/>
            <a:ext cx="10195560" cy="96012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22" name="Text 20"/>
          <p:cNvSpPr/>
          <p:nvPr/>
        </p:nvSpPr>
        <p:spPr>
          <a:xfrm>
            <a:off x="1691640" y="5166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into SQLite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91640" y="5532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cleaned frames into their corresponding warehouse tables.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N100 FINANCIAL INTELLIGENCE PLATFORM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STORAGE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Validation Framework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is grounded in the four core dimensions of data quality theory — each dimension maps to a concrete automated check applied before data enters the analytics layer.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2697480" cy="361188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6" name="Shape 4"/>
          <p:cNvSpPr/>
          <p:nvPr/>
        </p:nvSpPr>
        <p:spPr>
          <a:xfrm>
            <a:off x="795528" y="265176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90" dirty="0"/>
          </a:p>
        </p:txBody>
      </p:sp>
      <p:sp>
        <p:nvSpPr>
          <p:cNvPr id="8" name="Text 6"/>
          <p:cNvSpPr/>
          <p:nvPr/>
        </p:nvSpPr>
        <p:spPr>
          <a:xfrm>
            <a:off x="777240" y="30358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456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records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393192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duplicate company/period rows across all tables.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10712" y="2423160"/>
            <a:ext cx="2697480" cy="361188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0" y="265176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90" dirty="0"/>
          </a:p>
        </p:txBody>
      </p:sp>
      <p:sp>
        <p:nvSpPr>
          <p:cNvPr id="14" name="Text 12"/>
          <p:cNvSpPr/>
          <p:nvPr/>
        </p:nvSpPr>
        <p:spPr>
          <a:xfrm>
            <a:off x="3639312" y="30358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39312" y="3456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unexplained gaps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39312" y="393192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and flagged null values in required fields.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72784" y="2423160"/>
            <a:ext cx="2697480" cy="361188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18" name="Shape 16"/>
          <p:cNvSpPr/>
          <p:nvPr/>
        </p:nvSpPr>
        <p:spPr>
          <a:xfrm>
            <a:off x="6519672" y="265176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6519672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90" dirty="0"/>
          </a:p>
        </p:txBody>
      </p:sp>
      <p:sp>
        <p:nvSpPr>
          <p:cNvPr id="20" name="Text 18"/>
          <p:cNvSpPr/>
          <p:nvPr/>
        </p:nvSpPr>
        <p:spPr>
          <a:xfrm>
            <a:off x="6501384" y="30358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01384" y="3456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within logical bounds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01384" y="393192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negative values where economically implausible.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134856" y="2423160"/>
            <a:ext cx="2697480" cy="361188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24" name="Shape 22"/>
          <p:cNvSpPr/>
          <p:nvPr/>
        </p:nvSpPr>
        <p:spPr>
          <a:xfrm>
            <a:off x="9381744" y="265176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5" name="Text 23"/>
          <p:cNvSpPr/>
          <p:nvPr/>
        </p:nvSpPr>
        <p:spPr>
          <a:xfrm>
            <a:off x="9381744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90" dirty="0"/>
          </a:p>
        </p:txBody>
      </p:sp>
      <p:sp>
        <p:nvSpPr>
          <p:cNvPr id="26" name="Text 24"/>
          <p:cNvSpPr/>
          <p:nvPr/>
        </p:nvSpPr>
        <p:spPr>
          <a:xfrm>
            <a:off x="9363456" y="30358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363456" y="3456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structure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363456" y="393192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schema and type consistency across all 12 tables.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N100 FINANCIAL INTELLIGENCE PLATFORM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STORAGE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Database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92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data is persisted in a normalized relational schema: each source dataset becomes its own table, joined through a shared company key — minimizing redundancy and preserving referential integrity.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94944" y="3328416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332841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14" dirty="0"/>
          </a:p>
        </p:txBody>
      </p:sp>
      <p:sp>
        <p:nvSpPr>
          <p:cNvPr id="7" name="Text 5"/>
          <p:cNvSpPr/>
          <p:nvPr/>
        </p:nvSpPr>
        <p:spPr>
          <a:xfrm>
            <a:off x="1005840" y="32461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reduces duplicate storage of company attributes across statements.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4944" y="4014216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" y="401421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14" dirty="0"/>
          </a:p>
        </p:txBody>
      </p:sp>
      <p:sp>
        <p:nvSpPr>
          <p:cNvPr id="10" name="Text 8"/>
          <p:cNvSpPr/>
          <p:nvPr/>
        </p:nvSpPr>
        <p:spPr>
          <a:xfrm>
            <a:off x="1005840" y="39319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company identifier enables consistent joins across all 12 tables.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" y="4700016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470001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14" dirty="0"/>
          </a:p>
        </p:txBody>
      </p:sp>
      <p:sp>
        <p:nvSpPr>
          <p:cNvPr id="13" name="Text 11"/>
          <p:cNvSpPr/>
          <p:nvPr/>
        </p:nvSpPr>
        <p:spPr>
          <a:xfrm>
            <a:off x="1005840" y="46177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financial_ratios table alone holds 1,184 verified rows of derived metrics.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0" y="1600200"/>
            <a:ext cx="4297680" cy="4434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18745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7315200" y="2606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Created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55280" y="3108960"/>
            <a:ext cx="301752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32461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1,184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7589520" y="3977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Verified in financial_ratios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955280" y="4572000"/>
            <a:ext cx="301752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4709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0" y="5074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relational engine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N100 FINANCIAL INTELLIGENCE PLATFORM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ANALYTICS THEORY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Ratio Analysis — Theoretical Framework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financial theory groups ratios into four families, each answering a distinct question about a company's financial health. The platform computes all four for every company in the universe.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10642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31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0" y="2331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Question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7532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Metrics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11064240" cy="658368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889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278892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efficiently is capital converted into profit?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75320" y="278892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Margin, ROE, ROA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447288"/>
            <a:ext cx="110642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4728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344728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obligations be met in the short term?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75320" y="344728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Ratio, Quick Ratio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105656"/>
            <a:ext cx="11064240" cy="658368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10565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410565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dependent is the firm on debt financing?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75320" y="410565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Debt-to-Equity, Interest Coverage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764024"/>
            <a:ext cx="110642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76402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476402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are assets utilized to generate sales?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75320" y="476402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Turnover, Inventory Turnover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N100 FINANCIAL INTELLIGENCE PLATFORM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ANALYTICS THEORY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Flow Analytics — Theoretical Concepts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profit can be manipulated by accounting choices; cash flow cannot. These KPIs test the quality of earnings and the sustainability of a firm's investment behaviour.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2697480" cy="3611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697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Cash Flow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42900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generated after funding operations and capital expenditure — the pool available for dividends, debt repayment or reinvestment.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10712" y="2423160"/>
            <a:ext cx="2697480" cy="361188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9" name="Text 7"/>
          <p:cNvSpPr/>
          <p:nvPr/>
        </p:nvSpPr>
        <p:spPr>
          <a:xfrm>
            <a:off x="3639312" y="2697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Quality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39312" y="342900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of operating cash flow to net income; a value materially below 1 signals earnings that are not backed by real cash.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72784" y="2423160"/>
            <a:ext cx="2697480" cy="3611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501384" y="2697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Intensity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01384" y="342900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expenditure as a share of operating cash flow — indicates how reinvestment-heavy the business model is.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34856" y="2423160"/>
            <a:ext cx="2697480" cy="361188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9363456" y="2697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Patterns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363456" y="342900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 combination across operating, investing and financing activities, used to classify a firm's lifecycle stage.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N100 FINANCIAL INTELLIGENCE PLATFORM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ANALYTICS THEORY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Outputs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pipeline run publishes reproducible, versionable artifacts — ready for downstream review, reporting or further modelling without re-running the analysis.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3593592" cy="292608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60320"/>
            <a:ext cx="359359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60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capital_allocation.csv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allocation and reinvestment metrics per company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2560320"/>
            <a:ext cx="3593592" cy="292608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4325112" y="2560320"/>
            <a:ext cx="359359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2560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efficiency_ratios.csv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53712" y="361188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Asset, inventory and receivables turnover computations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01584" y="2560320"/>
            <a:ext cx="3593592" cy="292608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8101584" y="2560320"/>
            <a:ext cx="359359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330184" y="2560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ratio_edge_cases.log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30184" y="361188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log of anomalies flagged during ratio computation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N100 FINANCIAL INTELLIGENCE PLATFORM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 &amp; DELIVERY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Strategy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309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 follows the test-pyramid principle — a broad base of fast unit tests validating individual transformation and ratio functions, executed on every change via Pytest.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32461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isolate each ETL transformation function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74904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Ratio-calculation logic tested against known expected values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42519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519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(nulls, zero-denominators) covered explicitly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7548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475488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suite executed successfully — all tests passing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0" y="1600200"/>
            <a:ext cx="4297680" cy="4434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0" y="246888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7315200" y="3429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Pass Rate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80960" y="402336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executed across the ETL and analytics modules with zero failing assertions.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N100 FINANCIAL INTELLIGENCE PLATFORM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 &amp; DELIVERY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Control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provides a reliable audit trail of the project's evolution; GitHub hosts the remote history and makes the work reproducible and reviewable end to end.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7512" y="3108960"/>
            <a:ext cx="1965960" cy="109728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310896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1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633472" y="3108960"/>
            <a:ext cx="256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89504" y="3108960"/>
            <a:ext cx="1965960" cy="109728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9" name="Text 7"/>
          <p:cNvSpPr/>
          <p:nvPr/>
        </p:nvSpPr>
        <p:spPr>
          <a:xfrm>
            <a:off x="2889504" y="310896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1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Changes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55464" y="3108960"/>
            <a:ext cx="256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11496" y="3108960"/>
            <a:ext cx="1965960" cy="109728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5111496" y="310896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1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077456" y="3108960"/>
            <a:ext cx="256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33488" y="3108960"/>
            <a:ext cx="1965960" cy="109728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7333488" y="310896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1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299448" y="3108960"/>
            <a:ext cx="256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555480" y="3108960"/>
            <a:ext cx="196596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555480" y="310896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Remote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N100 FINANCIAL INTELLIGENCE PLATFORM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 &amp; DELIVERY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0" y="19202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52360" y="19202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1064240" cy="105156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2316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840480" y="242316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 across multiple financial fields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52360" y="242316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rules and explicit null-handling in the validation layer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1106424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47472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Type Mismatches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840480" y="347472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key types across datasets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52360" y="347472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data types prior to join operations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11064240" cy="1051560"/>
          </a:xfrm>
          <a:prstGeom prst="rect">
            <a:avLst/>
          </a:prstGeom>
          <a:solidFill>
            <a:srgbClr val="F3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5262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Import Issues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840480" y="45262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0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structure conflicts during development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52360" y="452628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Restructured project into a clean, testable module layout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N100 FINANCIAL INTELLIGENCE PLATFORM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Key Findings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51760" cy="2331720"/>
          </a:xfrm>
          <a:prstGeom prst="rect">
            <a:avLst/>
          </a:prstGeom>
          <a:solidFill>
            <a:srgbClr val="141B4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488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12/12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fully ingested &amp; validated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64992" y="1965960"/>
            <a:ext cx="2651760" cy="2331720"/>
          </a:xfrm>
          <a:prstGeom prst="rect">
            <a:avLst/>
          </a:prstGeom>
          <a:solidFill>
            <a:srgbClr val="141B45"/>
          </a:solidFill>
          <a:ln/>
        </p:spPr>
      </p:sp>
      <p:sp>
        <p:nvSpPr>
          <p:cNvPr id="8" name="Text 6"/>
          <p:cNvSpPr/>
          <p:nvPr/>
        </p:nvSpPr>
        <p:spPr>
          <a:xfrm>
            <a:off x="3364992" y="21488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1,184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47872" y="31546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Financial-ratio rows verified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81344" y="1965960"/>
            <a:ext cx="2651760" cy="2331720"/>
          </a:xfrm>
          <a:prstGeom prst="rect">
            <a:avLst/>
          </a:prstGeom>
          <a:solidFill>
            <a:srgbClr val="141B45"/>
          </a:solidFill>
          <a:ln/>
        </p:spPr>
      </p:sp>
      <p:sp>
        <p:nvSpPr>
          <p:cNvPr id="11" name="Text 9"/>
          <p:cNvSpPr/>
          <p:nvPr/>
        </p:nvSpPr>
        <p:spPr>
          <a:xfrm>
            <a:off x="6181344" y="21488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64224" y="31546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97696" y="1965960"/>
            <a:ext cx="2651760" cy="2331720"/>
          </a:xfrm>
          <a:prstGeom prst="rect">
            <a:avLst/>
          </a:prstGeom>
          <a:solidFill>
            <a:srgbClr val="141B45"/>
          </a:solidFill>
          <a:ln/>
        </p:spPr>
      </p:sp>
      <p:sp>
        <p:nvSpPr>
          <p:cNvPr id="14" name="Text 12"/>
          <p:cNvSpPr/>
          <p:nvPr/>
        </p:nvSpPr>
        <p:spPr>
          <a:xfrm>
            <a:off x="8997696" y="21488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180576" y="31546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categories computed at scale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70916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successfully transforms raw, fragmented financial spreadsheets into a validated, queryable intelligence layer — with reproducible analytics outputs grounded in established corporate-finance theory.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N100 FINANCIAL INTELLIGENCE PLATFORM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943600" cy="594360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05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32461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coverage beyond the Nifty 100 universe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68503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368503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time-series trend analysis across reporting periods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12394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412394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dashboard on top of the SQLite layer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456285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456285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peer and sector-relative benchmarking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5532120"/>
            <a:ext cx="100584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669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N100 FINANCIAL INTELLIGENCE PLATFORM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1607</Words>
  <Application>Microsoft Office PowerPoint</Application>
  <PresentationFormat>Widescreen</PresentationFormat>
  <Paragraphs>339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BOBBY @REDDY</cp:lastModifiedBy>
  <cp:revision>2</cp:revision>
  <dcterms:created xsi:type="dcterms:W3CDTF">2026-07-18T07:46:05Z</dcterms:created>
  <dcterms:modified xsi:type="dcterms:W3CDTF">2026-07-18T07:50:30Z</dcterms:modified>
</cp:coreProperties>
</file>